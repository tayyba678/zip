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3710822-93EB-4717-A074-7E9CB544ECD0}" type="datetimeFigureOut">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710822-93EB-4717-A074-7E9CB544ECD0}" type="datetimeFigureOut">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710822-93EB-4717-A074-7E9CB544ECD0}" type="datetimeFigureOut">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3710822-93EB-4717-A074-7E9CB544ECD0}" type="datetimeFigureOut">
              <a:rPr lang="en-US" smtClean="0"/>
              <a:t>9/24/2023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710822-93EB-4717-A074-7E9CB544ECD0}" type="datetimeFigureOut">
              <a:rPr lang="en-US" smtClean="0"/>
              <a:t>9/24/2023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710822-93EB-4717-A074-7E9CB544ECD0}" type="datetimeFigureOut">
              <a:rPr lang="en-US" smtClean="0"/>
              <a:t>9/24/2023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710822-93EB-4717-A074-7E9CB544ECD0}" type="datetimeFigureOut">
              <a:rPr lang="en-US" smtClean="0"/>
              <a:t>9/24/2023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710822-93EB-4717-A074-7E9CB544ECD0}" type="datetimeFigureOut">
              <a:rPr lang="en-US" smtClean="0"/>
              <a:t>9/24/2023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90CCAF-95F0-4A00-903F-6E0E7365935A}"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3710822-93EB-4717-A074-7E9CB544ECD0}" type="datetimeFigureOut">
              <a:rPr lang="en-US" smtClean="0"/>
              <a:t>9/24/2023</a:t>
            </a:fld>
            <a:endParaRPr lang="en-US"/>
          </a:p>
        </p:txBody>
      </p:sp>
      <p:sp>
        <p:nvSpPr>
          <p:cNvPr id="9" name="Slide Number Placeholder 8"/>
          <p:cNvSpPr>
            <a:spLocks noGrp="1"/>
          </p:cNvSpPr>
          <p:nvPr>
            <p:ph type="sldNum" sz="quarter" idx="11"/>
          </p:nvPr>
        </p:nvSpPr>
        <p:spPr/>
        <p:txBody>
          <a:bodyPr/>
          <a:lstStyle/>
          <a:p>
            <a:fld id="{F190CCAF-95F0-4A00-903F-6E0E7365935A}"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710822-93EB-4717-A074-7E9CB544ECD0}" type="datetimeFigureOut">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710822-93EB-4717-A074-7E9CB544ECD0}" type="datetimeFigureOut">
              <a:rPr lang="en-US" smtClean="0"/>
              <a:t>9/24/2023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90CCAF-95F0-4A00-903F-6E0E7365935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F190CCAF-95F0-4A00-903F-6E0E7365935A}"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B3710822-93EB-4717-A074-7E9CB544ECD0}" type="datetimeFigureOut">
              <a:rPr lang="en-US" smtClean="0"/>
              <a:t>9/24/2023</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6477000" cy="1981200"/>
          </a:xfrm>
        </p:spPr>
        <p:txBody>
          <a:bodyPr/>
          <a:lstStyle/>
          <a:p>
            <a:pPr algn="ctr"/>
            <a:r>
              <a:rPr lang="en-IN" dirty="0"/>
              <a:t>Evolution of Computing</a:t>
            </a:r>
            <a:endParaRPr lang="en-US" dirty="0"/>
          </a:p>
        </p:txBody>
      </p:sp>
      <p:sp>
        <p:nvSpPr>
          <p:cNvPr id="3" name="Subtitle 2"/>
          <p:cNvSpPr>
            <a:spLocks noGrp="1"/>
          </p:cNvSpPr>
          <p:nvPr>
            <p:ph type="subTitle" idx="1"/>
          </p:nvPr>
        </p:nvSpPr>
        <p:spPr>
          <a:xfrm>
            <a:off x="4953000" y="5181600"/>
            <a:ext cx="3429000" cy="838200"/>
          </a:xfrm>
        </p:spPr>
        <p:txBody>
          <a:bodyPr>
            <a:normAutofit/>
          </a:bodyPr>
          <a:lstStyle/>
          <a:p>
            <a:r>
              <a:rPr lang="en-US" dirty="0">
                <a:solidFill>
                  <a:schemeClr val="tx1"/>
                </a:solidFill>
              </a:rPr>
              <a:t>Presented By </a:t>
            </a:r>
            <a:r>
              <a:rPr lang="en-US" dirty="0" err="1">
                <a:solidFill>
                  <a:schemeClr val="tx1"/>
                </a:solidFill>
              </a:rPr>
              <a:t>Tayyba</a:t>
            </a:r>
            <a:r>
              <a:rPr lang="en-US" dirty="0">
                <a:solidFill>
                  <a:schemeClr val="tx1"/>
                </a:solidFill>
              </a:rPr>
              <a:t> </a:t>
            </a:r>
            <a:r>
              <a:rPr lang="en-US" dirty="0" err="1">
                <a:solidFill>
                  <a:schemeClr val="tx1"/>
                </a:solidFill>
              </a:rPr>
              <a:t>Aftab</a:t>
            </a:r>
            <a:endParaRPr lang="en-US" dirty="0">
              <a:solidFill>
                <a:schemeClr val="tx1"/>
              </a:solidFill>
            </a:endParaRPr>
          </a:p>
          <a:p>
            <a:r>
              <a:rPr lang="en-US" dirty="0">
                <a:solidFill>
                  <a:schemeClr val="tx1"/>
                </a:solidFill>
              </a:rPr>
              <a:t>To Miss </a:t>
            </a:r>
            <a:r>
              <a:rPr lang="en-US" dirty="0" err="1">
                <a:solidFill>
                  <a:schemeClr val="tx1"/>
                </a:solidFill>
              </a:rPr>
              <a:t>Amna</a:t>
            </a:r>
            <a:endParaRPr lang="en-US" dirty="0">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3352800"/>
            <a:ext cx="4451733" cy="2823875"/>
          </a:xfrm>
          <a:prstGeom prst="rect">
            <a:avLst/>
          </a:prstGeom>
        </p:spPr>
      </p:pic>
    </p:spTree>
    <p:extLst>
      <p:ext uri="{BB962C8B-B14F-4D97-AF65-F5344CB8AC3E}">
        <p14:creationId xmlns:p14="http://schemas.microsoft.com/office/powerpoint/2010/main" val="64021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 calcmode="lin" valueType="num">
                                      <p:cBhvr additive="base">
                                        <p:cTn id="1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additive="base">
                                        <p:cTn id="2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620000" cy="838200"/>
          </a:xfrm>
        </p:spPr>
        <p:txBody>
          <a:bodyPr/>
          <a:lstStyle/>
          <a:p>
            <a:pPr algn="ctr"/>
            <a:r>
              <a:rPr lang="en-US" dirty="0"/>
              <a:t>Earliest Calculating </a:t>
            </a:r>
            <a:r>
              <a:rPr lang="en-US" dirty="0" err="1"/>
              <a:t>Devics</a:t>
            </a:r>
            <a:endParaRPr lang="en-US" dirty="0"/>
          </a:p>
        </p:txBody>
      </p:sp>
      <p:sp>
        <p:nvSpPr>
          <p:cNvPr id="3" name="Content Placeholder 2"/>
          <p:cNvSpPr>
            <a:spLocks noGrp="1"/>
          </p:cNvSpPr>
          <p:nvPr>
            <p:ph idx="1"/>
          </p:nvPr>
        </p:nvSpPr>
        <p:spPr>
          <a:xfrm>
            <a:off x="457200" y="4343400"/>
            <a:ext cx="7620000" cy="2057400"/>
          </a:xfrm>
        </p:spPr>
        <p:txBody>
          <a:bodyPr/>
          <a:lstStyle/>
          <a:p>
            <a:r>
              <a:rPr lang="en-US" dirty="0"/>
              <a:t>The earliest known calculating device is the </a:t>
            </a:r>
            <a:r>
              <a:rPr lang="en-US" b="1" dirty="0"/>
              <a:t>abacus</a:t>
            </a:r>
            <a:r>
              <a:rPr lang="en-US" dirty="0"/>
              <a:t>, which dates back to at least 1100 BCE </a:t>
            </a:r>
          </a:p>
          <a:p>
            <a:r>
              <a:rPr lang="en-US" dirty="0"/>
              <a:t> Abacus beads can be readily manipulated to perform the common arithmetical operations—addition, subtraction, multiplication, and division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9200" y="1232824"/>
            <a:ext cx="5638800" cy="2964185"/>
          </a:xfrm>
          <a:prstGeom prst="rect">
            <a:avLst/>
          </a:prstGeom>
        </p:spPr>
      </p:pic>
    </p:spTree>
    <p:extLst>
      <p:ext uri="{BB962C8B-B14F-4D97-AF65-F5344CB8AC3E}">
        <p14:creationId xmlns:p14="http://schemas.microsoft.com/office/powerpoint/2010/main" val="236593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barn(inVertical)">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barn(inVertical)">
                                      <p:cBhvr>
                                        <p:cTn id="2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620000" cy="944562"/>
          </a:xfrm>
        </p:spPr>
        <p:txBody>
          <a:bodyPr/>
          <a:lstStyle/>
          <a:p>
            <a:pPr algn="ctr"/>
            <a:r>
              <a:rPr lang="en-US" dirty="0"/>
              <a:t>First Computer</a:t>
            </a:r>
          </a:p>
        </p:txBody>
      </p:sp>
      <p:sp>
        <p:nvSpPr>
          <p:cNvPr id="3" name="Content Placeholder 2"/>
          <p:cNvSpPr>
            <a:spLocks noGrp="1"/>
          </p:cNvSpPr>
          <p:nvPr>
            <p:ph idx="1"/>
          </p:nvPr>
        </p:nvSpPr>
        <p:spPr/>
        <p:txBody>
          <a:bodyPr/>
          <a:lstStyle/>
          <a:p>
            <a:r>
              <a:rPr lang="en-US" dirty="0"/>
              <a:t>In the 19th century, </a:t>
            </a:r>
            <a:r>
              <a:rPr lang="en-US" b="1" dirty="0"/>
              <a:t>Charles Babbage</a:t>
            </a:r>
            <a:r>
              <a:rPr lang="en-US" dirty="0"/>
              <a:t>, a British polymath, is credited with conceiving the first automatic digital computer.</a:t>
            </a:r>
          </a:p>
          <a:p>
            <a:r>
              <a:rPr lang="en-US" dirty="0"/>
              <a:t>Charles Babbage is widely recognized as the </a:t>
            </a:r>
            <a:r>
              <a:rPr lang="en-US" b="1" dirty="0"/>
              <a:t>father of the computer</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8800" y="3352798"/>
            <a:ext cx="4856922" cy="2385391"/>
          </a:xfrm>
          <a:prstGeom prst="rect">
            <a:avLst/>
          </a:prstGeom>
        </p:spPr>
      </p:pic>
    </p:spTree>
    <p:extLst>
      <p:ext uri="{BB962C8B-B14F-4D97-AF65-F5344CB8AC3E}">
        <p14:creationId xmlns:p14="http://schemas.microsoft.com/office/powerpoint/2010/main" val="3553316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heel(1)">
                                      <p:cBhvr>
                                        <p:cTn id="2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A95AC-EEC8-49EB-83CA-6BE82A9EBA2A}"/>
              </a:ext>
            </a:extLst>
          </p:cNvPr>
          <p:cNvSpPr>
            <a:spLocks noGrp="1"/>
          </p:cNvSpPr>
          <p:nvPr>
            <p:ph type="title"/>
          </p:nvPr>
        </p:nvSpPr>
        <p:spPr>
          <a:xfrm>
            <a:off x="762000" y="304800"/>
            <a:ext cx="7620000" cy="1143000"/>
          </a:xfrm>
        </p:spPr>
        <p:txBody>
          <a:bodyPr/>
          <a:lstStyle/>
          <a:p>
            <a:r>
              <a:rPr lang="en-IN" b="1" i="0" dirty="0">
                <a:effectLst/>
                <a:latin typeface="Söhne"/>
              </a:rPr>
              <a:t>ENIAC (1946)</a:t>
            </a:r>
            <a:endParaRPr lang="en-IN" dirty="0"/>
          </a:p>
        </p:txBody>
      </p:sp>
      <p:sp>
        <p:nvSpPr>
          <p:cNvPr id="3" name="Content Placeholder 2">
            <a:extLst>
              <a:ext uri="{FF2B5EF4-FFF2-40B4-BE49-F238E27FC236}">
                <a16:creationId xmlns:a16="http://schemas.microsoft.com/office/drawing/2014/main" id="{666D63B7-EBDC-B47C-4EB0-5C200CCDA624}"/>
              </a:ext>
            </a:extLst>
          </p:cNvPr>
          <p:cNvSpPr>
            <a:spLocks noGrp="1"/>
          </p:cNvSpPr>
          <p:nvPr>
            <p:ph idx="1"/>
          </p:nvPr>
        </p:nvSpPr>
        <p:spPr/>
        <p:txBody>
          <a:bodyPr/>
          <a:lstStyle/>
          <a:p>
            <a:pPr algn="l">
              <a:buFont typeface="Arial" panose="020B0604020202020204" pitchFamily="34" charset="0"/>
              <a:buChar char="•"/>
            </a:pPr>
            <a:r>
              <a:rPr lang="en-IN" b="0" i="0" dirty="0">
                <a:solidFill>
                  <a:srgbClr val="374151"/>
                </a:solidFill>
                <a:effectLst/>
                <a:latin typeface="Söhne"/>
              </a:rPr>
              <a:t>The Electronic Numerical Integrator and Computer (ENIAC) was the first electronic general-purpose computer.</a:t>
            </a:r>
          </a:p>
          <a:p>
            <a:pPr algn="l">
              <a:buFont typeface="Arial" panose="020B0604020202020204" pitchFamily="34" charset="0"/>
              <a:buChar char="•"/>
            </a:pPr>
            <a:r>
              <a:rPr lang="en-IN" b="0" i="0" dirty="0">
                <a:solidFill>
                  <a:srgbClr val="374151"/>
                </a:solidFill>
                <a:effectLst/>
                <a:latin typeface="Söhne"/>
              </a:rPr>
              <a:t>It occupied an entire room and was used primarily for numerical calculations</a:t>
            </a:r>
          </a:p>
          <a:p>
            <a:endParaRPr lang="en-IN" dirty="0"/>
          </a:p>
        </p:txBody>
      </p:sp>
      <p:pic>
        <p:nvPicPr>
          <p:cNvPr id="5" name="Picture 4">
            <a:extLst>
              <a:ext uri="{FF2B5EF4-FFF2-40B4-BE49-F238E27FC236}">
                <a16:creationId xmlns:a16="http://schemas.microsoft.com/office/drawing/2014/main" id="{6AF4EBCE-9B7D-84FC-B0C6-9ED93DFA3D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3581400"/>
            <a:ext cx="5334000" cy="2601912"/>
          </a:xfrm>
          <a:prstGeom prst="rect">
            <a:avLst/>
          </a:prstGeom>
        </p:spPr>
      </p:pic>
    </p:spTree>
    <p:extLst>
      <p:ext uri="{BB962C8B-B14F-4D97-AF65-F5344CB8AC3E}">
        <p14:creationId xmlns:p14="http://schemas.microsoft.com/office/powerpoint/2010/main" val="359403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heel(1)">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DAC95-4C1E-38CF-7801-A016B9A7FB52}"/>
              </a:ext>
            </a:extLst>
          </p:cNvPr>
          <p:cNvSpPr>
            <a:spLocks noGrp="1"/>
          </p:cNvSpPr>
          <p:nvPr>
            <p:ph type="title"/>
          </p:nvPr>
        </p:nvSpPr>
        <p:spPr/>
        <p:txBody>
          <a:bodyPr/>
          <a:lstStyle/>
          <a:p>
            <a:r>
              <a:rPr lang="en-IN" b="1" i="0" dirty="0">
                <a:effectLst/>
                <a:latin typeface="Söhne"/>
              </a:rPr>
              <a:t>Transistors (1950s)</a:t>
            </a:r>
            <a:endParaRPr lang="en-IN" dirty="0"/>
          </a:p>
        </p:txBody>
      </p:sp>
      <p:sp>
        <p:nvSpPr>
          <p:cNvPr id="3" name="Content Placeholder 2">
            <a:extLst>
              <a:ext uri="{FF2B5EF4-FFF2-40B4-BE49-F238E27FC236}">
                <a16:creationId xmlns:a16="http://schemas.microsoft.com/office/drawing/2014/main" id="{6E6503EC-FA13-7884-72C8-BCA45E276910}"/>
              </a:ext>
            </a:extLst>
          </p:cNvPr>
          <p:cNvSpPr>
            <a:spLocks noGrp="1"/>
          </p:cNvSpPr>
          <p:nvPr>
            <p:ph idx="1"/>
          </p:nvPr>
        </p:nvSpPr>
        <p:spPr/>
        <p:txBody>
          <a:bodyPr/>
          <a:lstStyle/>
          <a:p>
            <a:pPr algn="l">
              <a:buFont typeface="Arial" panose="020B0604020202020204" pitchFamily="34" charset="0"/>
              <a:buChar char="•"/>
            </a:pPr>
            <a:r>
              <a:rPr lang="en-IN" b="0" i="0" dirty="0">
                <a:solidFill>
                  <a:srgbClr val="374151"/>
                </a:solidFill>
                <a:effectLst/>
                <a:latin typeface="Söhne"/>
              </a:rPr>
              <a:t>The development of transistors in the 1950s replaced vacuum tubes, leading to smaller, faster, and more reliable computers.</a:t>
            </a:r>
          </a:p>
          <a:p>
            <a:pPr algn="l">
              <a:buFont typeface="Arial" panose="020B0604020202020204" pitchFamily="34" charset="0"/>
              <a:buChar char="•"/>
            </a:pPr>
            <a:r>
              <a:rPr lang="en-IN" b="0" i="0" dirty="0">
                <a:solidFill>
                  <a:srgbClr val="374151"/>
                </a:solidFill>
                <a:effectLst/>
                <a:latin typeface="Söhne"/>
              </a:rPr>
              <a:t>This marked a major advancement in computing technology.</a:t>
            </a:r>
          </a:p>
          <a:p>
            <a:endParaRPr lang="en-IN" dirty="0"/>
          </a:p>
        </p:txBody>
      </p:sp>
      <p:pic>
        <p:nvPicPr>
          <p:cNvPr id="5" name="Picture 4">
            <a:extLst>
              <a:ext uri="{FF2B5EF4-FFF2-40B4-BE49-F238E27FC236}">
                <a16:creationId xmlns:a16="http://schemas.microsoft.com/office/drawing/2014/main" id="{29751180-53F3-7D5E-6AE8-03623673BC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3276600"/>
            <a:ext cx="3110325" cy="2799793"/>
          </a:xfrm>
          <a:prstGeom prst="rect">
            <a:avLst/>
          </a:prstGeom>
        </p:spPr>
      </p:pic>
    </p:spTree>
    <p:extLst>
      <p:ext uri="{BB962C8B-B14F-4D97-AF65-F5344CB8AC3E}">
        <p14:creationId xmlns:p14="http://schemas.microsoft.com/office/powerpoint/2010/main" val="392661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heel(1)">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1D136-1B38-5241-E0B6-75B9ECD8A25D}"/>
              </a:ext>
            </a:extLst>
          </p:cNvPr>
          <p:cNvSpPr>
            <a:spLocks noGrp="1"/>
          </p:cNvSpPr>
          <p:nvPr>
            <p:ph type="title"/>
          </p:nvPr>
        </p:nvSpPr>
        <p:spPr/>
        <p:txBody>
          <a:bodyPr/>
          <a:lstStyle/>
          <a:p>
            <a:r>
              <a:rPr lang="en-IN" b="1" i="0" dirty="0">
                <a:effectLst/>
                <a:latin typeface="Söhne"/>
              </a:rPr>
              <a:t>Mainframes and Minicomputers (196)</a:t>
            </a:r>
            <a:endParaRPr lang="en-IN" dirty="0"/>
          </a:p>
        </p:txBody>
      </p:sp>
      <p:sp>
        <p:nvSpPr>
          <p:cNvPr id="3" name="Content Placeholder 2">
            <a:extLst>
              <a:ext uri="{FF2B5EF4-FFF2-40B4-BE49-F238E27FC236}">
                <a16:creationId xmlns:a16="http://schemas.microsoft.com/office/drawing/2014/main" id="{34FBE94D-A3E8-40C9-58AC-28B86FDBCB35}"/>
              </a:ext>
            </a:extLst>
          </p:cNvPr>
          <p:cNvSpPr>
            <a:spLocks noGrp="1"/>
          </p:cNvSpPr>
          <p:nvPr>
            <p:ph idx="1"/>
          </p:nvPr>
        </p:nvSpPr>
        <p:spPr/>
        <p:txBody>
          <a:bodyPr/>
          <a:lstStyle/>
          <a:p>
            <a:pPr algn="l">
              <a:buFont typeface="Arial" panose="020B0604020202020204" pitchFamily="34" charset="0"/>
              <a:buChar char="•"/>
            </a:pPr>
            <a:r>
              <a:rPr lang="en-IN" b="0" i="0" dirty="0">
                <a:solidFill>
                  <a:srgbClr val="374151"/>
                </a:solidFill>
                <a:effectLst/>
                <a:latin typeface="Söhne"/>
              </a:rPr>
              <a:t>Mainframes were powerful machines used by large organizations for critical applications.</a:t>
            </a:r>
          </a:p>
          <a:p>
            <a:pPr algn="l">
              <a:buFont typeface="Arial" panose="020B0604020202020204" pitchFamily="34" charset="0"/>
              <a:buChar char="•"/>
            </a:pPr>
            <a:r>
              <a:rPr lang="en-IN" b="0" i="0" dirty="0">
                <a:solidFill>
                  <a:srgbClr val="374151"/>
                </a:solidFill>
                <a:effectLst/>
                <a:latin typeface="Söhne"/>
              </a:rPr>
              <a:t>Minicomputers were smaller and more affordable, suitable for a wider range of tasks.</a:t>
            </a:r>
          </a:p>
          <a:p>
            <a:endParaRPr lang="en-IN" dirty="0"/>
          </a:p>
        </p:txBody>
      </p:sp>
      <p:pic>
        <p:nvPicPr>
          <p:cNvPr id="5" name="Picture 4">
            <a:extLst>
              <a:ext uri="{FF2B5EF4-FFF2-40B4-BE49-F238E27FC236}">
                <a16:creationId xmlns:a16="http://schemas.microsoft.com/office/drawing/2014/main" id="{3F3A5F6A-1CCC-77B5-8B43-F10482773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3429000"/>
            <a:ext cx="4038600" cy="2732743"/>
          </a:xfrm>
          <a:prstGeom prst="rect">
            <a:avLst/>
          </a:prstGeom>
        </p:spPr>
      </p:pic>
    </p:spTree>
    <p:extLst>
      <p:ext uri="{BB962C8B-B14F-4D97-AF65-F5344CB8AC3E}">
        <p14:creationId xmlns:p14="http://schemas.microsoft.com/office/powerpoint/2010/main" val="3934759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heel(1)">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65EF-CE06-F0F9-FC7F-A0BA37EEC896}"/>
              </a:ext>
            </a:extLst>
          </p:cNvPr>
          <p:cNvSpPr>
            <a:spLocks noGrp="1"/>
          </p:cNvSpPr>
          <p:nvPr>
            <p:ph type="title"/>
          </p:nvPr>
        </p:nvSpPr>
        <p:spPr/>
        <p:txBody>
          <a:bodyPr/>
          <a:lstStyle/>
          <a:p>
            <a:r>
              <a:rPr lang="en-IN" b="1" i="0" dirty="0">
                <a:effectLst/>
                <a:latin typeface="Söhne"/>
              </a:rPr>
              <a:t>Personal Computers (1980s)</a:t>
            </a:r>
            <a:endParaRPr lang="en-IN" dirty="0"/>
          </a:p>
        </p:txBody>
      </p:sp>
      <p:sp>
        <p:nvSpPr>
          <p:cNvPr id="3" name="Content Placeholder 2">
            <a:extLst>
              <a:ext uri="{FF2B5EF4-FFF2-40B4-BE49-F238E27FC236}">
                <a16:creationId xmlns:a16="http://schemas.microsoft.com/office/drawing/2014/main" id="{D9E87D6D-6FA4-2E56-C235-530388C0358E}"/>
              </a:ext>
            </a:extLst>
          </p:cNvPr>
          <p:cNvSpPr>
            <a:spLocks noGrp="1"/>
          </p:cNvSpPr>
          <p:nvPr>
            <p:ph idx="1"/>
          </p:nvPr>
        </p:nvSpPr>
        <p:spPr/>
        <p:txBody>
          <a:bodyPr/>
          <a:lstStyle/>
          <a:p>
            <a:pPr algn="l">
              <a:buFont typeface="Arial" panose="020B0604020202020204" pitchFamily="34" charset="0"/>
              <a:buChar char="•"/>
            </a:pPr>
            <a:r>
              <a:rPr lang="en-IN" b="0" i="0" dirty="0">
                <a:solidFill>
                  <a:srgbClr val="374151"/>
                </a:solidFill>
                <a:effectLst/>
                <a:latin typeface="Söhne"/>
              </a:rPr>
              <a:t>Explosive growth in personal computing with the release of IBM PC (1981) and Apple Macintosh (1984).</a:t>
            </a:r>
          </a:p>
          <a:p>
            <a:pPr algn="l">
              <a:buFont typeface="Arial" panose="020B0604020202020204" pitchFamily="34" charset="0"/>
              <a:buChar char="•"/>
            </a:pPr>
            <a:r>
              <a:rPr lang="en-IN" b="0" i="0" dirty="0">
                <a:solidFill>
                  <a:srgbClr val="374151"/>
                </a:solidFill>
                <a:effectLst/>
                <a:latin typeface="Söhne"/>
              </a:rPr>
              <a:t>Revolutionized computing accessibility and personal productivity.</a:t>
            </a:r>
          </a:p>
          <a:p>
            <a:endParaRPr lang="en-IN" dirty="0"/>
          </a:p>
        </p:txBody>
      </p:sp>
      <p:pic>
        <p:nvPicPr>
          <p:cNvPr id="5" name="Picture 4">
            <a:extLst>
              <a:ext uri="{FF2B5EF4-FFF2-40B4-BE49-F238E27FC236}">
                <a16:creationId xmlns:a16="http://schemas.microsoft.com/office/drawing/2014/main" id="{650E4699-5223-51DF-3FFC-33B78876EF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8463" y="3200400"/>
            <a:ext cx="3313214" cy="2850614"/>
          </a:xfrm>
          <a:prstGeom prst="rect">
            <a:avLst/>
          </a:prstGeom>
        </p:spPr>
      </p:pic>
    </p:spTree>
    <p:extLst>
      <p:ext uri="{BB962C8B-B14F-4D97-AF65-F5344CB8AC3E}">
        <p14:creationId xmlns:p14="http://schemas.microsoft.com/office/powerpoint/2010/main" val="335038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heel(1)">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11A7A-C4B9-586F-DF05-FE621EE2D522}"/>
              </a:ext>
            </a:extLst>
          </p:cNvPr>
          <p:cNvSpPr>
            <a:spLocks noGrp="1"/>
          </p:cNvSpPr>
          <p:nvPr>
            <p:ph type="title"/>
          </p:nvPr>
        </p:nvSpPr>
        <p:spPr>
          <a:xfrm>
            <a:off x="685800" y="304800"/>
            <a:ext cx="7620000" cy="1143000"/>
          </a:xfrm>
        </p:spPr>
        <p:txBody>
          <a:bodyPr/>
          <a:lstStyle/>
          <a:p>
            <a:r>
              <a:rPr lang="en-IN" b="1" i="0" dirty="0">
                <a:effectLst/>
                <a:latin typeface="Söhne"/>
              </a:rPr>
              <a:t>Microsoft Windows (1985)</a:t>
            </a:r>
            <a:endParaRPr lang="en-IN" dirty="0"/>
          </a:p>
        </p:txBody>
      </p:sp>
      <p:sp>
        <p:nvSpPr>
          <p:cNvPr id="3" name="Content Placeholder 2">
            <a:extLst>
              <a:ext uri="{FF2B5EF4-FFF2-40B4-BE49-F238E27FC236}">
                <a16:creationId xmlns:a16="http://schemas.microsoft.com/office/drawing/2014/main" id="{0B6E0777-3464-FC68-0947-B7F991759093}"/>
              </a:ext>
            </a:extLst>
          </p:cNvPr>
          <p:cNvSpPr>
            <a:spLocks noGrp="1"/>
          </p:cNvSpPr>
          <p:nvPr>
            <p:ph idx="1"/>
          </p:nvPr>
        </p:nvSpPr>
        <p:spPr/>
        <p:txBody>
          <a:bodyPr/>
          <a:lstStyle/>
          <a:p>
            <a:pPr marL="114300" indent="0">
              <a:buNone/>
            </a:pPr>
            <a:r>
              <a:rPr lang="en-IN" b="0" i="0" dirty="0">
                <a:solidFill>
                  <a:srgbClr val="374151"/>
                </a:solidFill>
                <a:effectLst/>
                <a:latin typeface="Söhne"/>
              </a:rPr>
              <a:t>Microsoft's Windows operating system introduced a graphical interface for MS-DOS, becoming a dominant force in personal computing.</a:t>
            </a:r>
            <a:endParaRPr lang="en-IN" dirty="0"/>
          </a:p>
        </p:txBody>
      </p:sp>
      <p:pic>
        <p:nvPicPr>
          <p:cNvPr id="5" name="Picture 4">
            <a:extLst>
              <a:ext uri="{FF2B5EF4-FFF2-40B4-BE49-F238E27FC236}">
                <a16:creationId xmlns:a16="http://schemas.microsoft.com/office/drawing/2014/main" id="{7040722D-CB4C-3232-CF02-ED6C60D006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3352800"/>
            <a:ext cx="3782901" cy="2529599"/>
          </a:xfrm>
          <a:prstGeom prst="rect">
            <a:avLst/>
          </a:prstGeom>
        </p:spPr>
      </p:pic>
    </p:spTree>
    <p:extLst>
      <p:ext uri="{BB962C8B-B14F-4D97-AF65-F5344CB8AC3E}">
        <p14:creationId xmlns:p14="http://schemas.microsoft.com/office/powerpoint/2010/main" val="239969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heel(1)">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55852-826C-7306-7267-6DEF57B7D16F}"/>
              </a:ext>
            </a:extLst>
          </p:cNvPr>
          <p:cNvSpPr>
            <a:spLocks noGrp="1"/>
          </p:cNvSpPr>
          <p:nvPr>
            <p:ph type="title"/>
          </p:nvPr>
        </p:nvSpPr>
        <p:spPr>
          <a:xfrm>
            <a:off x="533400" y="304800"/>
            <a:ext cx="7620000" cy="1143000"/>
          </a:xfrm>
        </p:spPr>
        <p:txBody>
          <a:bodyPr/>
          <a:lstStyle/>
          <a:p>
            <a:r>
              <a:rPr lang="en-IN" b="1" i="0" dirty="0">
                <a:effectLst/>
                <a:latin typeface="Söhne"/>
              </a:rPr>
              <a:t>Internet and World Wide Web (1990s)</a:t>
            </a:r>
            <a:endParaRPr lang="en-IN" dirty="0"/>
          </a:p>
        </p:txBody>
      </p:sp>
      <p:sp>
        <p:nvSpPr>
          <p:cNvPr id="3" name="Content Placeholder 2">
            <a:extLst>
              <a:ext uri="{FF2B5EF4-FFF2-40B4-BE49-F238E27FC236}">
                <a16:creationId xmlns:a16="http://schemas.microsoft.com/office/drawing/2014/main" id="{39B9E9F8-BE7E-2406-1DA4-E87325F8A629}"/>
              </a:ext>
            </a:extLst>
          </p:cNvPr>
          <p:cNvSpPr>
            <a:spLocks noGrp="1"/>
          </p:cNvSpPr>
          <p:nvPr>
            <p:ph idx="1"/>
          </p:nvPr>
        </p:nvSpPr>
        <p:spPr/>
        <p:txBody>
          <a:bodyPr/>
          <a:lstStyle/>
          <a:p>
            <a:r>
              <a:rPr lang="en-IN" b="0" i="0" dirty="0">
                <a:solidFill>
                  <a:srgbClr val="374151"/>
                </a:solidFill>
                <a:effectLst/>
                <a:latin typeface="Söhne"/>
              </a:rPr>
              <a:t>Widespread adoption of the internet and the development of the World Wide Web revolutionized communication and information sharing</a:t>
            </a:r>
            <a:endParaRPr lang="en-IN" dirty="0"/>
          </a:p>
        </p:txBody>
      </p:sp>
      <p:pic>
        <p:nvPicPr>
          <p:cNvPr id="5" name="Picture 4">
            <a:extLst>
              <a:ext uri="{FF2B5EF4-FFF2-40B4-BE49-F238E27FC236}">
                <a16:creationId xmlns:a16="http://schemas.microsoft.com/office/drawing/2014/main" id="{3D3FEC7C-CC0F-CE7D-58C2-3416D8F2E7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6742" y="3505200"/>
            <a:ext cx="3700915" cy="2369455"/>
          </a:xfrm>
          <a:prstGeom prst="rect">
            <a:avLst/>
          </a:prstGeom>
        </p:spPr>
      </p:pic>
    </p:spTree>
    <p:extLst>
      <p:ext uri="{BB962C8B-B14F-4D97-AF65-F5344CB8AC3E}">
        <p14:creationId xmlns:p14="http://schemas.microsoft.com/office/powerpoint/2010/main" val="340648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heel(1)">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C0D3-DEB7-5AC8-C0D4-759886040793}"/>
              </a:ext>
            </a:extLst>
          </p:cNvPr>
          <p:cNvSpPr>
            <a:spLocks noGrp="1"/>
          </p:cNvSpPr>
          <p:nvPr>
            <p:ph type="title"/>
          </p:nvPr>
        </p:nvSpPr>
        <p:spPr/>
        <p:txBody>
          <a:bodyPr/>
          <a:lstStyle/>
          <a:p>
            <a:r>
              <a:rPr lang="en-IN" b="1" i="0" dirty="0">
                <a:effectLst/>
                <a:latin typeface="Söhne"/>
              </a:rPr>
              <a:t>Laptops and Mobile Computing (1990s-2000s)</a:t>
            </a:r>
            <a:endParaRPr lang="en-IN" dirty="0"/>
          </a:p>
        </p:txBody>
      </p:sp>
      <p:sp>
        <p:nvSpPr>
          <p:cNvPr id="3" name="Content Placeholder 2">
            <a:extLst>
              <a:ext uri="{FF2B5EF4-FFF2-40B4-BE49-F238E27FC236}">
                <a16:creationId xmlns:a16="http://schemas.microsoft.com/office/drawing/2014/main" id="{54DA1503-5CB7-00FB-3D02-83C1F0973F95}"/>
              </a:ext>
            </a:extLst>
          </p:cNvPr>
          <p:cNvSpPr>
            <a:spLocks noGrp="1"/>
          </p:cNvSpPr>
          <p:nvPr>
            <p:ph idx="1"/>
          </p:nvPr>
        </p:nvSpPr>
        <p:spPr/>
        <p:txBody>
          <a:bodyPr/>
          <a:lstStyle/>
          <a:p>
            <a:r>
              <a:rPr lang="en-IN" b="0" i="0" dirty="0">
                <a:solidFill>
                  <a:srgbClr val="374151"/>
                </a:solidFill>
                <a:effectLst/>
                <a:latin typeface="Söhne"/>
              </a:rPr>
              <a:t>Laptops, smartphones, and tablets brought computing power on the go, transforming the way people work and communicate</a:t>
            </a:r>
          </a:p>
          <a:p>
            <a:r>
              <a:rPr lang="en-IN" b="0" i="0" dirty="0">
                <a:solidFill>
                  <a:srgbClr val="374151"/>
                </a:solidFill>
                <a:effectLst/>
                <a:latin typeface="Söhne"/>
              </a:rPr>
              <a:t> Laptop and mobile computing provide users with portable, on-the-go access to digital resources, enabling work, communication, and entertainment from virtually anywhere with an internet connection."</a:t>
            </a:r>
            <a:endParaRPr lang="en-IN" dirty="0"/>
          </a:p>
        </p:txBody>
      </p:sp>
      <p:pic>
        <p:nvPicPr>
          <p:cNvPr id="5" name="Picture 4">
            <a:extLst>
              <a:ext uri="{FF2B5EF4-FFF2-40B4-BE49-F238E27FC236}">
                <a16:creationId xmlns:a16="http://schemas.microsoft.com/office/drawing/2014/main" id="{D4C520C4-47E8-0D9A-38EE-0390063E12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3892256"/>
            <a:ext cx="2876951" cy="2214871"/>
          </a:xfrm>
          <a:prstGeom prst="rect">
            <a:avLst/>
          </a:prstGeom>
        </p:spPr>
      </p:pic>
    </p:spTree>
    <p:extLst>
      <p:ext uri="{BB962C8B-B14F-4D97-AF65-F5344CB8AC3E}">
        <p14:creationId xmlns:p14="http://schemas.microsoft.com/office/powerpoint/2010/main" val="166244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heel(1)">
                                      <p:cBhvr>
                                        <p:cTn id="2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3A61C-2E97-7572-527B-FE9CAC79C7F5}"/>
              </a:ext>
            </a:extLst>
          </p:cNvPr>
          <p:cNvSpPr>
            <a:spLocks noGrp="1"/>
          </p:cNvSpPr>
          <p:nvPr>
            <p:ph type="title"/>
          </p:nvPr>
        </p:nvSpPr>
        <p:spPr>
          <a:xfrm>
            <a:off x="457200" y="274638"/>
            <a:ext cx="7620000" cy="826107"/>
          </a:xfrm>
        </p:spPr>
        <p:txBody>
          <a:bodyPr/>
          <a:lstStyle/>
          <a:p>
            <a:r>
              <a:rPr lang="en-IN" b="1" i="0" dirty="0">
                <a:effectLst/>
                <a:latin typeface="Söhne"/>
              </a:rPr>
              <a:t>Artificial Intelligence and Machine Learning </a:t>
            </a:r>
            <a:endParaRPr lang="en-IN" dirty="0"/>
          </a:p>
        </p:txBody>
      </p:sp>
      <p:sp>
        <p:nvSpPr>
          <p:cNvPr id="3" name="Content Placeholder 2">
            <a:extLst>
              <a:ext uri="{FF2B5EF4-FFF2-40B4-BE49-F238E27FC236}">
                <a16:creationId xmlns:a16="http://schemas.microsoft.com/office/drawing/2014/main" id="{4B02FDD9-A296-264E-E9FE-CF46FA1B61AC}"/>
              </a:ext>
            </a:extLst>
          </p:cNvPr>
          <p:cNvSpPr>
            <a:spLocks noGrp="1"/>
          </p:cNvSpPr>
          <p:nvPr>
            <p:ph idx="1"/>
          </p:nvPr>
        </p:nvSpPr>
        <p:spPr>
          <a:xfrm>
            <a:off x="457200" y="3319998"/>
            <a:ext cx="7620000" cy="3080801"/>
          </a:xfrm>
        </p:spPr>
        <p:txBody>
          <a:bodyPr>
            <a:normAutofit lnSpcReduction="10000"/>
          </a:bodyPr>
          <a:lstStyle/>
          <a:p>
            <a:r>
              <a:rPr lang="en-IN" b="0" i="0" dirty="0">
                <a:solidFill>
                  <a:srgbClr val="374151"/>
                </a:solidFill>
                <a:effectLst/>
                <a:latin typeface="Söhne"/>
              </a:rPr>
              <a:t>Artificial Intelligence (AI) is a branch of computer science that focuses on creating systems capable of performing tasks that typically require human intelligence. This includes learning, reasoning, problem-solving, perception, and language understanding.</a:t>
            </a:r>
          </a:p>
          <a:p>
            <a:r>
              <a:rPr lang="en-IN" b="0" i="0" dirty="0">
                <a:solidFill>
                  <a:srgbClr val="374151"/>
                </a:solidFill>
                <a:effectLst/>
                <a:latin typeface="Söhne"/>
              </a:rPr>
              <a:t>A subset of AI, Machine Learning involves training computers to learn from data and make decisions or predictions without being explicitly programmed. It relies on algorithms that enable systems to recognize patterns and improve over time.</a:t>
            </a:r>
            <a:endParaRPr lang="en-IN" dirty="0"/>
          </a:p>
        </p:txBody>
      </p:sp>
      <p:sp>
        <p:nvSpPr>
          <p:cNvPr id="5" name="TextBox 4">
            <a:extLst>
              <a:ext uri="{FF2B5EF4-FFF2-40B4-BE49-F238E27FC236}">
                <a16:creationId xmlns:a16="http://schemas.microsoft.com/office/drawing/2014/main" id="{855690AC-79CE-8ACE-804A-6991211D5FB3}"/>
              </a:ext>
            </a:extLst>
          </p:cNvPr>
          <p:cNvSpPr txBox="1"/>
          <p:nvPr/>
        </p:nvSpPr>
        <p:spPr>
          <a:xfrm>
            <a:off x="2286000" y="3108293"/>
            <a:ext cx="4572000" cy="369332"/>
          </a:xfrm>
          <a:prstGeom prst="rect">
            <a:avLst/>
          </a:prstGeom>
          <a:noFill/>
        </p:spPr>
        <p:txBody>
          <a:bodyPr wrap="square">
            <a:spAutoFit/>
          </a:bodyPr>
          <a:lstStyle/>
          <a:p>
            <a:endParaRPr lang="en-IN" dirty="0"/>
          </a:p>
        </p:txBody>
      </p:sp>
      <p:pic>
        <p:nvPicPr>
          <p:cNvPr id="7" name="Picture 6">
            <a:extLst>
              <a:ext uri="{FF2B5EF4-FFF2-40B4-BE49-F238E27FC236}">
                <a16:creationId xmlns:a16="http://schemas.microsoft.com/office/drawing/2014/main" id="{5AB4D8E0-9D5A-CF34-504D-440E5D114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687691"/>
            <a:ext cx="3200400" cy="2420602"/>
          </a:xfrm>
          <a:prstGeom prst="rect">
            <a:avLst/>
          </a:prstGeom>
        </p:spPr>
      </p:pic>
    </p:spTree>
    <p:extLst>
      <p:ext uri="{BB962C8B-B14F-4D97-AF65-F5344CB8AC3E}">
        <p14:creationId xmlns:p14="http://schemas.microsoft.com/office/powerpoint/2010/main" val="97274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heel(1)">
                                      <p:cBhvr>
                                        <p:cTn id="2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102</TotalTime>
  <Words>411</Words>
  <Application>Microsoft Office PowerPoint</Application>
  <PresentationFormat>On-screen Show (4:3)</PresentationFormat>
  <Paragraphs>31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Söhne</vt:lpstr>
      <vt:lpstr>Adjacency</vt:lpstr>
      <vt:lpstr>Evolution of Computing</vt:lpstr>
      <vt:lpstr>Earliest Calculating Devics</vt:lpstr>
      <vt:lpstr>First Computer</vt:lpstr>
      <vt:lpstr>ENIAC (1946)</vt:lpstr>
      <vt:lpstr>Transistors (1950s)</vt:lpstr>
      <vt:lpstr>Mainframes and Minicomputers (196)</vt:lpstr>
      <vt:lpstr>Personal Computers (1980s)</vt:lpstr>
      <vt:lpstr>Microsoft Windows (1985)</vt:lpstr>
      <vt:lpstr>Internet and World Wide Web (1990s)</vt:lpstr>
      <vt:lpstr>Laptops and Mobile Computing (1990s-2000s)</vt:lpstr>
      <vt:lpstr>Artificial Intelligence and Machine Learning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Of Computer</dc:title>
  <dc:creator>STUDENT</dc:creator>
  <cp:lastModifiedBy>Areeba Aftab</cp:lastModifiedBy>
  <cp:revision>10</cp:revision>
  <dcterms:created xsi:type="dcterms:W3CDTF">2023-09-19T09:40:11Z</dcterms:created>
  <dcterms:modified xsi:type="dcterms:W3CDTF">2023-09-24T07:29:11Z</dcterms:modified>
</cp:coreProperties>
</file>